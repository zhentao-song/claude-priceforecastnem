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457200" cy="6400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运营推广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88920" y="228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@宋震涛</a:t>
            </a:r>
            <a:endParaRPr lang="en-US" sz="1400" dirty="0"/>
          </a:p>
        </p:txBody>
      </p:sp>
      <p:pic>
        <p:nvPicPr>
          <p:cNvPr id="5" name="Image 0" descr="/sessions/funny-upbeat-darwin/mnt/claude-PriceForecastNEM/vpp_business_case/charts/p2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46304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0" y="128016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StarCharge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星星充电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11480" y="960120"/>
            <a:ext cx="310896" cy="310896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9418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试点运营计划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1480" y="1481328"/>
            <a:ext cx="4343400" cy="8412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" y="1481328"/>
            <a:ext cx="73152" cy="84124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Solar Juice 增量客户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181051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工商业 1–2MW/月、户用 1MW/月；成交即捆绑VPP注册，安装商返佣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" y="2414016"/>
            <a:ext cx="4343400" cy="8412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5" name="Shape 12"/>
          <p:cNvSpPr/>
          <p:nvPr/>
        </p:nvSpPr>
        <p:spPr>
          <a:xfrm>
            <a:off x="411480" y="2414016"/>
            <a:ext cx="73152" cy="84124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4871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中集储能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94360" y="27432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存量 + 增量工商业用户；存量基数可快速入池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3346704"/>
            <a:ext cx="4343400" cy="8412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" y="3346704"/>
            <a:ext cx="73152" cy="84124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3419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SolarJuice + GoldWind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94360" y="367588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&lt;5MW 网侧储能项目 8 个（≈40MW），BESS兜底代运营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4279392"/>
            <a:ext cx="4343400" cy="8412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4279392"/>
            <a:ext cx="73152" cy="84124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4352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GCGF（平台授权客户）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94360" y="460857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自有资产接入我方VPP平台，按其收益约15%抽成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5230368"/>
            <a:ext cx="4343400" cy="548640"/>
          </a:xfrm>
          <a:prstGeom prst="rect">
            <a:avLst/>
          </a:prstGeom>
          <a:solidFill>
            <a:srgbClr val="FCEEE3"/>
          </a:solidFill>
          <a:ln/>
        </p:spPr>
      </p:sp>
      <p:sp>
        <p:nvSpPr>
          <p:cNvPr id="27" name="Shape 24"/>
          <p:cNvSpPr/>
          <p:nvPr/>
        </p:nvSpPr>
        <p:spPr>
          <a:xfrm>
            <a:off x="411480" y="5230368"/>
            <a:ext cx="73152" cy="548640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523036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3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首批合计 ≈ 50MW</a:t>
            </a:r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户用 / 工商 / 网侧BESS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074920" y="960120"/>
            <a:ext cx="310896" cy="310896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0" name="Text 27"/>
          <p:cNvSpPr/>
          <p:nvPr/>
        </p:nvSpPr>
        <p:spPr>
          <a:xfrm>
            <a:off x="5074920" y="960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486400" y="941832"/>
            <a:ext cx="6291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运营推广计划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074920" y="1481328"/>
            <a:ext cx="6702552" cy="786384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3" name="Shape 30"/>
          <p:cNvSpPr/>
          <p:nvPr/>
        </p:nvSpPr>
        <p:spPr>
          <a:xfrm>
            <a:off x="5074920" y="1481328"/>
            <a:ext cx="73152" cy="786384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4" name="Text 31"/>
          <p:cNvSpPr/>
          <p:nvPr/>
        </p:nvSpPr>
        <p:spPr>
          <a:xfrm>
            <a:off x="5257800" y="1545336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核心定位：自有 VPP 平台 = 护城河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257800" y="1810512"/>
            <a:ext cx="6336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平台（资产接入 + 现货/FCAS交易调度 + 结算）是抽30%/15%的依据——卖的不是装机，是把 NEM 波动变现的能力。</a:t>
            </a:r>
            <a:endParaRPr lang="en-US" sz="1030" dirty="0"/>
          </a:p>
        </p:txBody>
      </p:sp>
      <p:sp>
        <p:nvSpPr>
          <p:cNvPr id="36" name="Shape 33"/>
          <p:cNvSpPr/>
          <p:nvPr/>
        </p:nvSpPr>
        <p:spPr>
          <a:xfrm>
            <a:off x="5074920" y="2340864"/>
            <a:ext cx="6702552" cy="95097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7" name="Shape 34"/>
          <p:cNvSpPr/>
          <p:nvPr/>
        </p:nvSpPr>
        <p:spPr>
          <a:xfrm>
            <a:off x="5074920" y="2340864"/>
            <a:ext cx="73152" cy="950976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38" name="Text 35"/>
          <p:cNvSpPr/>
          <p:nvPr/>
        </p:nvSpPr>
        <p:spPr>
          <a:xfrm>
            <a:off x="5257800" y="2404872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双产品线放量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257800" y="2670048"/>
            <a:ext cx="6336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自营 VPP（抽30%）：</a:t>
            </a:r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渠道捆绑获客，C&amp;I优先、户用走量、网侧BESS压舱。</a:t>
            </a:r>
            <a:endParaRPr lang="en-US" sz="103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平台授权（抽~15%）：</a:t>
            </a:r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白标输出给“有资产、没能力”的业主/基金，GCGF打样后批量复制，轻资产放量快。</a:t>
            </a:r>
            <a:endParaRPr lang="en-US" sz="1030" dirty="0"/>
          </a:p>
        </p:txBody>
      </p:sp>
      <p:sp>
        <p:nvSpPr>
          <p:cNvPr id="40" name="Shape 37"/>
          <p:cNvSpPr/>
          <p:nvPr/>
        </p:nvSpPr>
        <p:spPr>
          <a:xfrm>
            <a:off x="5074920" y="3401568"/>
            <a:ext cx="6702552" cy="1188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41" name="Shape 38"/>
          <p:cNvSpPr/>
          <p:nvPr/>
        </p:nvSpPr>
        <p:spPr>
          <a:xfrm>
            <a:off x="5074920" y="3401568"/>
            <a:ext cx="73152" cy="1188720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42" name="Text 39"/>
          <p:cNvSpPr/>
          <p:nvPr/>
        </p:nvSpPr>
        <p:spPr>
          <a:xfrm>
            <a:off x="5257800" y="3465576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推广打法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257800" y="3730752"/>
            <a:ext cx="63367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渠道默认捆绑：</a:t>
            </a:r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购电池即注册VPP（opt-out）+ 安装商阶梯返佣。</a:t>
            </a:r>
            <a:endParaRPr lang="en-US" sz="103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差异化价值主张：</a:t>
            </a:r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户用“零成本多赚+保底”｜工商“储能变利润中心+需量协同”｜BESS“代运营兜底，IRR 22%&gt;15%”。</a:t>
            </a:r>
            <a:endParaRPr lang="en-US" sz="103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标杆先行：</a:t>
            </a:r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每渠道先做1–2个可复制样板 + 透明收益看板。</a:t>
            </a:r>
            <a:endParaRPr lang="en-US" sz="1030" dirty="0"/>
          </a:p>
        </p:txBody>
      </p:sp>
      <p:sp>
        <p:nvSpPr>
          <p:cNvPr id="44" name="Shape 41"/>
          <p:cNvSpPr/>
          <p:nvPr/>
        </p:nvSpPr>
        <p:spPr>
          <a:xfrm>
            <a:off x="5074920" y="4700016"/>
            <a:ext cx="6702552" cy="102412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45" name="Shape 42"/>
          <p:cNvSpPr/>
          <p:nvPr/>
        </p:nvSpPr>
        <p:spPr>
          <a:xfrm>
            <a:off x="5074920" y="4700016"/>
            <a:ext cx="73152" cy="1024128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46" name="Text 43"/>
          <p:cNvSpPr/>
          <p:nvPr/>
        </p:nvSpPr>
        <p:spPr>
          <a:xfrm>
            <a:off x="5257800" y="4764024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2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运营后台 + 持牌路径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257800" y="5029200"/>
            <a:ext cx="6336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接入标准化</a:t>
            </a:r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（设备白名单/遥测/计量）→ </a:t>
            </a:r>
            <a:pPr indent="0" marL="0">
              <a:lnSpc>
                <a:spcPct val="106000"/>
              </a:lnSpc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现货+FCAS联合优化交易+风控</a:t>
            </a:r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</a:t>
            </a:r>
            <a:pPr indent="0" marL="0">
              <a:lnSpc>
                <a:spcPct val="106000"/>
              </a:lnSpc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月度透明结算+兜底</a:t>
            </a:r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App留存。</a:t>
            </a:r>
            <a:endParaRPr lang="en-US" sz="103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30" b="1" dirty="0">
                <a:solidFill>
                  <a:srgbClr val="2E2E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持牌：</a:t>
            </a:r>
            <a:pPr indent="0" marL="0">
              <a:lnSpc>
                <a:spcPct val="106000"/>
              </a:lnSpc>
              <a:buNone/>
            </a:pPr>
            <a:r>
              <a:rPr lang="en-US" sz="1030" dirty="0">
                <a:solidFill>
                  <a:srgbClr val="6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近期挂靠市场主体 → 中期自建DRSP → 远期 IRP 独立持牌。</a:t>
            </a:r>
            <a:endParaRPr lang="en-US" sz="1030" dirty="0"/>
          </a:p>
        </p:txBody>
      </p:sp>
      <p:sp>
        <p:nvSpPr>
          <p:cNvPr id="48" name="Shape 45"/>
          <p:cNvSpPr/>
          <p:nvPr/>
        </p:nvSpPr>
        <p:spPr>
          <a:xfrm>
            <a:off x="411480" y="5870448"/>
            <a:ext cx="11368735" cy="457200"/>
          </a:xfrm>
          <a:prstGeom prst="rect">
            <a:avLst/>
          </a:prstGeom>
          <a:solidFill>
            <a:srgbClr val="EC6A2C"/>
          </a:solidFill>
          <a:ln/>
        </p:spPr>
      </p:sp>
      <p:sp>
        <p:nvSpPr>
          <p:cNvPr id="49" name="Text 46"/>
          <p:cNvSpPr/>
          <p:nvPr/>
        </p:nvSpPr>
        <p:spPr>
          <a:xfrm>
            <a:off x="640080" y="5870448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KPI　</a:t>
            </a:r>
            <a:pPr indent="0" marL="0">
              <a:buNone/>
            </a:pPr>
            <a:r>
              <a:rPr lang="en-US" sz="1150" dirty="0">
                <a:solidFill>
                  <a:srgbClr val="FFF0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月入池MW　｜　注册转化率　｜　实际 $/kW vs 模型　｜　留存率　｜　FCAS利用率</a:t>
            </a:r>
            <a:endParaRPr lang="en-US" sz="1150" dirty="0"/>
          </a:p>
        </p:txBody>
      </p:sp>
      <p:pic>
        <p:nvPicPr>
          <p:cNvPr id="50" name="Image 1" descr="/sessions/funny-upbeat-darwin/mnt/claude-PriceForecastNEM/vpp_business_case/charts/p2_fl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0"/>
            <a:ext cx="12191695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2026-06-17T01:47:44Z</dcterms:created>
  <dcterms:modified xsi:type="dcterms:W3CDTF">2026-06-17T01:47:44Z</dcterms:modified>
</cp:coreProperties>
</file>