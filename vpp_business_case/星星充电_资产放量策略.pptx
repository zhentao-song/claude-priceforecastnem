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457200" cy="64008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"/>
            <a:ext cx="7315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资产运营量放量策略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5852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两类资产 × 存量/增量  ·  以 &lt;5MW BESS 为主轴，C&amp;I 做基本盘</a:t>
            </a:r>
            <a:endParaRPr lang="en-US" sz="1150" dirty="0"/>
          </a:p>
        </p:txBody>
      </p:sp>
      <p:pic>
        <p:nvPicPr>
          <p:cNvPr id="5" name="Image 0" descr="/sessions/funny-upbeat-darwin/mnt/claude-PriceForecastNEM/vpp_business_case/charts/p2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91440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0" y="7315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StarCharge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C6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星星充电</a:t>
            </a:r>
            <a:endParaRPr lang="en-US" sz="1200" dirty="0"/>
          </a:p>
        </p:txBody>
      </p:sp>
      <p:pic>
        <p:nvPicPr>
          <p:cNvPr id="7" name="Image 1" descr="/sessions/funny-upbeat-darwin/mnt/claude-PriceForecastNEM/vpp_business_case/charts/p2_fl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0"/>
            <a:ext cx="12191695" cy="38404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11480" y="932688"/>
            <a:ext cx="73152" cy="237744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9" name="Text 5"/>
          <p:cNvSpPr/>
          <p:nvPr/>
        </p:nvSpPr>
        <p:spPr>
          <a:xfrm>
            <a:off x="576072" y="9144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资产盘：两类资产 × 两个来源</a:t>
            </a:r>
            <a:endParaRPr lang="en-US" sz="13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98448"/>
          <a:ext cx="7635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0"/>
                <a:gridCol w="30175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资产 ＼ 来源</a:t>
                      </a:r>
                      <a:endParaRPr lang="en-US" sz="9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存量（已通电 · 最快）</a:t>
                      </a:r>
                      <a:endParaRPr lang="en-US" sz="9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增量（在建/在售 · 要锁定）</a:t>
                      </a:r>
                      <a:endParaRPr lang="en-US" sz="9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2E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工商业</a:t>
                      </a:r>
                      <a:endParaRPr lang="en-US" sz="9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BTM 储能</a:t>
                      </a:r>
                      <a:endParaRPr lang="en-US" sz="9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中集存量 + 已装只自用的 C&amp;I 电池</a:t>
                      </a:r>
                      <a:endParaRPr lang="en-US" sz="9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OTA 入池，卖点：零成本多赚 + 保底</a:t>
                      </a:r>
                      <a:endParaRPr lang="en-US" sz="9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中集 / SolarJuice / EPC 新单</a:t>
                      </a:r>
                      <a:endParaRPr lang="en-US" sz="9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销售即默认捆绑入池（安装商激励）</a:t>
                      </a:r>
                      <a:endParaRPr lang="en-US" sz="9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&lt;5MW BESS</a:t>
                      </a:r>
                      <a:endParaRPr lang="en-US" sz="9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网侧/独立/社区</a:t>
                      </a:r>
                      <a:endParaRPr lang="en-US" sz="9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独立电池优化不足 + DNSP 社区电池</a:t>
                      </a:r>
                      <a:endParaRPr lang="en-US" sz="9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给“优化代运营 / tolling”，分增量收益</a:t>
                      </a:r>
                      <a:endParaRPr lang="en-US" sz="9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开发管道（GoldWind 8 个…）</a:t>
                      </a:r>
                      <a:endParaRPr lang="en-US" sz="9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2E2E2E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开发期签 MOU，COD 自动入池  ★MW最快</a:t>
                      </a:r>
                      <a:endParaRPr lang="en-US" sz="9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3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8229600" y="1298448"/>
            <a:ext cx="3547872" cy="2340864"/>
          </a:xfrm>
          <a:prstGeom prst="rect">
            <a:avLst/>
          </a:prstGeom>
          <a:solidFill>
            <a:srgbClr val="FCEEE3"/>
          </a:solidFill>
          <a:ln/>
        </p:spPr>
      </p:sp>
      <p:sp>
        <p:nvSpPr>
          <p:cNvPr id="12" name="Shape 7"/>
          <p:cNvSpPr/>
          <p:nvPr/>
        </p:nvSpPr>
        <p:spPr>
          <a:xfrm>
            <a:off x="8229600" y="1298448"/>
            <a:ext cx="91440" cy="2340864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13" name="Text 8"/>
          <p:cNvSpPr/>
          <p:nvPr/>
        </p:nvSpPr>
        <p:spPr>
          <a:xfrm>
            <a:off x="8430768" y="140817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&lt;5MW BESS = 放量主力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430768" y="1792224"/>
            <a:ext cx="31638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40,000 AUD/MW·年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，兜底全归你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250MW ≈ $1,000 万/年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单笔 MW 大、单位收益最高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EC6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以 BESS 为主轴放量，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EC6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C&amp;I 做稳定基本盘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11480" y="3840480"/>
            <a:ext cx="73152" cy="237744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16" name="Text 11"/>
          <p:cNvSpPr/>
          <p:nvPr/>
        </p:nvSpPr>
        <p:spPr>
          <a:xfrm>
            <a:off x="576072" y="38221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快速放量路径：从“一户户签”到“框架带量”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411480" y="4187952"/>
            <a:ext cx="2226564" cy="676656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8" name="Shape 13"/>
          <p:cNvSpPr/>
          <p:nvPr/>
        </p:nvSpPr>
        <p:spPr>
          <a:xfrm>
            <a:off x="411480" y="4187952"/>
            <a:ext cx="64008" cy="676656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19" name="Text 14"/>
          <p:cNvSpPr/>
          <p:nvPr/>
        </p:nvSpPr>
        <p:spPr>
          <a:xfrm>
            <a:off x="557784" y="4242816"/>
            <a:ext cx="2007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框架 / MOU 带量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57784" y="4535424"/>
            <a:ext cx="200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一签带一组合MW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2694737" y="4187952"/>
            <a:ext cx="2226564" cy="676656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2" name="Shape 17"/>
          <p:cNvSpPr/>
          <p:nvPr/>
        </p:nvSpPr>
        <p:spPr>
          <a:xfrm>
            <a:off x="2694737" y="4187952"/>
            <a:ext cx="64008" cy="676656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23" name="Text 18"/>
          <p:cNvSpPr/>
          <p:nvPr/>
        </p:nvSpPr>
        <p:spPr>
          <a:xfrm>
            <a:off x="2841041" y="4242816"/>
            <a:ext cx="2007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管道锁定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2841041" y="4535424"/>
            <a:ext cx="200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BESS开发期MOU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977994" y="4187952"/>
            <a:ext cx="2226564" cy="676656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6" name="Shape 21"/>
          <p:cNvSpPr/>
          <p:nvPr/>
        </p:nvSpPr>
        <p:spPr>
          <a:xfrm>
            <a:off x="4977994" y="4187952"/>
            <a:ext cx="64008" cy="676656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27" name="Text 22"/>
          <p:cNvSpPr/>
          <p:nvPr/>
        </p:nvSpPr>
        <p:spPr>
          <a:xfrm>
            <a:off x="5124298" y="4242816"/>
            <a:ext cx="2007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平台授权（15%）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124298" y="4535424"/>
            <a:ext cx="200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轻资产·搬上你平台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7261250" y="4187952"/>
            <a:ext cx="2226564" cy="676656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0" name="Shape 25"/>
          <p:cNvSpPr/>
          <p:nvPr/>
        </p:nvSpPr>
        <p:spPr>
          <a:xfrm>
            <a:off x="7261250" y="4187952"/>
            <a:ext cx="64008" cy="676656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31" name="Text 26"/>
          <p:cNvSpPr/>
          <p:nvPr/>
        </p:nvSpPr>
        <p:spPr>
          <a:xfrm>
            <a:off x="7407554" y="4242816"/>
            <a:ext cx="2007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标杆复制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7407554" y="4535424"/>
            <a:ext cx="200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试点$/kW做证据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9544507" y="4187952"/>
            <a:ext cx="2226564" cy="676656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4" name="Shape 29"/>
          <p:cNvSpPr/>
          <p:nvPr/>
        </p:nvSpPr>
        <p:spPr>
          <a:xfrm>
            <a:off x="9544507" y="4187952"/>
            <a:ext cx="64008" cy="676656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35" name="Text 30"/>
          <p:cNvSpPr/>
          <p:nvPr/>
        </p:nvSpPr>
        <p:spPr>
          <a:xfrm>
            <a:off x="9690811" y="4242816"/>
            <a:ext cx="2007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买量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9690811" y="4535424"/>
            <a:ext cx="200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收购聚合商/book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411480" y="5047488"/>
            <a:ext cx="73152" cy="237744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38" name="Text 33"/>
          <p:cNvSpPr/>
          <p:nvPr/>
        </p:nvSpPr>
        <p:spPr>
          <a:xfrm>
            <a:off x="576072" y="5029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 MW 优先级（按速度排）</a:t>
            </a:r>
            <a:endParaRPr lang="en-US" sz="1350" dirty="0"/>
          </a:p>
        </p:txBody>
      </p:sp>
      <p:sp>
        <p:nvSpPr>
          <p:cNvPr id="39" name="Shape 34"/>
          <p:cNvSpPr/>
          <p:nvPr/>
        </p:nvSpPr>
        <p:spPr>
          <a:xfrm>
            <a:off x="411480" y="5394960"/>
            <a:ext cx="2743200" cy="786384"/>
          </a:xfrm>
          <a:prstGeom prst="rect">
            <a:avLst/>
          </a:prstGeom>
          <a:solidFill>
            <a:srgbClr val="FCEEE3"/>
          </a:solidFill>
          <a:ln/>
        </p:spPr>
      </p:sp>
      <p:sp>
        <p:nvSpPr>
          <p:cNvPr id="40" name="Shape 35"/>
          <p:cNvSpPr/>
          <p:nvPr/>
        </p:nvSpPr>
        <p:spPr>
          <a:xfrm>
            <a:off x="539496" y="5522976"/>
            <a:ext cx="365760" cy="365760"/>
          </a:xfrm>
          <a:prstGeom prst="ellipse">
            <a:avLst/>
          </a:prstGeom>
          <a:solidFill>
            <a:srgbClr val="EC6A2C"/>
          </a:solidFill>
          <a:ln/>
        </p:spPr>
      </p:sp>
      <p:sp>
        <p:nvSpPr>
          <p:cNvPr id="41" name="Text 36"/>
          <p:cNvSpPr/>
          <p:nvPr/>
        </p:nvSpPr>
        <p:spPr>
          <a:xfrm>
            <a:off x="539496" y="5522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600" dirty="0"/>
          </a:p>
        </p:txBody>
      </p:sp>
      <p:sp>
        <p:nvSpPr>
          <p:cNvPr id="42" name="Text 37"/>
          <p:cNvSpPr/>
          <p:nvPr/>
        </p:nvSpPr>
        <p:spPr>
          <a:xfrm>
            <a:off x="996696" y="5468112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&lt;5MW BESS存量 + 中集C&amp;I存量</a:t>
            </a:r>
            <a:endParaRPr lang="en-US" sz="1030" dirty="0"/>
          </a:p>
        </p:txBody>
      </p:sp>
      <p:sp>
        <p:nvSpPr>
          <p:cNvPr id="43" name="Text 38"/>
          <p:cNvSpPr/>
          <p:nvPr/>
        </p:nvSpPr>
        <p:spPr>
          <a:xfrm>
            <a:off x="996696" y="583387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签约即入池 · 最快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3285439" y="5394960"/>
            <a:ext cx="2743200" cy="786384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45" name="Shape 40"/>
          <p:cNvSpPr/>
          <p:nvPr/>
        </p:nvSpPr>
        <p:spPr>
          <a:xfrm>
            <a:off x="3413455" y="5522976"/>
            <a:ext cx="365760" cy="365760"/>
          </a:xfrm>
          <a:prstGeom prst="ellipse">
            <a:avLst/>
          </a:prstGeom>
          <a:solidFill>
            <a:srgbClr val="EC6A2C"/>
          </a:solidFill>
          <a:ln/>
        </p:spPr>
      </p:sp>
      <p:sp>
        <p:nvSpPr>
          <p:cNvPr id="46" name="Text 41"/>
          <p:cNvSpPr/>
          <p:nvPr/>
        </p:nvSpPr>
        <p:spPr>
          <a:xfrm>
            <a:off x="3413455" y="5522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600" dirty="0"/>
          </a:p>
        </p:txBody>
      </p:sp>
      <p:sp>
        <p:nvSpPr>
          <p:cNvPr id="47" name="Text 42"/>
          <p:cNvSpPr/>
          <p:nvPr/>
        </p:nvSpPr>
        <p:spPr>
          <a:xfrm>
            <a:off x="3870655" y="5468112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&lt;5MW BESS增量 · 管道锁定</a:t>
            </a:r>
            <a:endParaRPr lang="en-US" sz="1030" dirty="0"/>
          </a:p>
        </p:txBody>
      </p:sp>
      <p:sp>
        <p:nvSpPr>
          <p:cNvPr id="48" name="Text 43"/>
          <p:cNvSpPr/>
          <p:nvPr/>
        </p:nvSpPr>
        <p:spPr>
          <a:xfrm>
            <a:off x="3870655" y="583387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单笔大 · 提前锁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6159398" y="5394960"/>
            <a:ext cx="2743200" cy="786384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50" name="Shape 45"/>
          <p:cNvSpPr/>
          <p:nvPr/>
        </p:nvSpPr>
        <p:spPr>
          <a:xfrm>
            <a:off x="6287414" y="5522976"/>
            <a:ext cx="365760" cy="365760"/>
          </a:xfrm>
          <a:prstGeom prst="ellipse">
            <a:avLst/>
          </a:prstGeom>
          <a:solidFill>
            <a:srgbClr val="EC6A2C"/>
          </a:solidFill>
          <a:ln/>
        </p:spPr>
      </p:sp>
      <p:sp>
        <p:nvSpPr>
          <p:cNvPr id="51" name="Text 46"/>
          <p:cNvSpPr/>
          <p:nvPr/>
        </p:nvSpPr>
        <p:spPr>
          <a:xfrm>
            <a:off x="6287414" y="5522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Text 47"/>
          <p:cNvSpPr/>
          <p:nvPr/>
        </p:nvSpPr>
        <p:spPr>
          <a:xfrm>
            <a:off x="6744614" y="5468112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平台授权</a:t>
            </a:r>
            <a:endParaRPr lang="en-US" sz="1030" dirty="0"/>
          </a:p>
        </p:txBody>
      </p:sp>
      <p:sp>
        <p:nvSpPr>
          <p:cNvPr id="53" name="Text 48"/>
          <p:cNvSpPr/>
          <p:nvPr/>
        </p:nvSpPr>
        <p:spPr>
          <a:xfrm>
            <a:off x="6744614" y="583387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轻资产 · 批量带入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9033358" y="5394960"/>
            <a:ext cx="2743200" cy="786384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55" name="Shape 50"/>
          <p:cNvSpPr/>
          <p:nvPr/>
        </p:nvSpPr>
        <p:spPr>
          <a:xfrm>
            <a:off x="9161374" y="5522976"/>
            <a:ext cx="365760" cy="365760"/>
          </a:xfrm>
          <a:prstGeom prst="ellipse">
            <a:avLst/>
          </a:prstGeom>
          <a:solidFill>
            <a:srgbClr val="EC6A2C"/>
          </a:solidFill>
          <a:ln/>
        </p:spPr>
      </p:sp>
      <p:sp>
        <p:nvSpPr>
          <p:cNvPr id="56" name="Text 51"/>
          <p:cNvSpPr/>
          <p:nvPr/>
        </p:nvSpPr>
        <p:spPr>
          <a:xfrm>
            <a:off x="9161374" y="5522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600" dirty="0"/>
          </a:p>
        </p:txBody>
      </p:sp>
      <p:sp>
        <p:nvSpPr>
          <p:cNvPr id="57" name="Text 52"/>
          <p:cNvSpPr/>
          <p:nvPr/>
        </p:nvSpPr>
        <p:spPr>
          <a:xfrm>
            <a:off x="9618574" y="5468112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C&amp;I增量 · 渠道默认捆绑</a:t>
            </a:r>
            <a:endParaRPr lang="en-US" sz="1030" dirty="0"/>
          </a:p>
        </p:txBody>
      </p:sp>
      <p:sp>
        <p:nvSpPr>
          <p:cNvPr id="58" name="Text 53"/>
          <p:cNvSpPr/>
          <p:nvPr/>
        </p:nvSpPr>
        <p:spPr>
          <a:xfrm>
            <a:off x="9618574" y="583387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稳定流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411480" y="6254496"/>
            <a:ext cx="11338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05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KPI：</a:t>
            </a:r>
            <a:pPr indent="0" marL="0">
              <a:buNone/>
            </a:pPr>
            <a:r>
              <a:rPr lang="en-US" sz="92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在管 MW ｜ 管道 MW（已签未 COD）｜ 存量转化率 ｜ 实际 $/kW vs 模型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2026-06-17T05:22:03Z</dcterms:created>
  <dcterms:modified xsi:type="dcterms:W3CDTF">2026-06-17T05:22:03Z</dcterms:modified>
</cp:coreProperties>
</file>