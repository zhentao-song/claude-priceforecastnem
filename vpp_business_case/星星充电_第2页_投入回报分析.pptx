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457200" cy="64008"/>
          </a:xfrm>
          <a:prstGeom prst="rect">
            <a:avLst/>
          </a:prstGeom>
          <a:solidFill>
            <a:srgbClr val="EC6A2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6459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投入回报分析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11880" y="24688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A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@宋震涛</a:t>
            </a:r>
            <a:endParaRPr lang="en-US" sz="1400" dirty="0"/>
          </a:p>
        </p:txBody>
      </p:sp>
      <p:pic>
        <p:nvPicPr>
          <p:cNvPr id="5" name="Image 0" descr="/sessions/funny-upbeat-darwin/mnt/claude-PriceForecastNEM/vpp_business_case/charts/p2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0" y="164592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0" y="146304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StarCharge</a:t>
            </a:r>
            <a:endParaRPr lang="en-US" sz="12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C6A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星星充电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11480" y="932688"/>
            <a:ext cx="3712464" cy="1225296"/>
          </a:xfrm>
          <a:prstGeom prst="rect">
            <a:avLst/>
          </a:prstGeom>
          <a:solidFill>
            <a:srgbClr val="FCEEE3"/>
          </a:solidFill>
          <a:ln/>
        </p:spPr>
      </p:sp>
      <p:sp>
        <p:nvSpPr>
          <p:cNvPr id="8" name="Shape 5"/>
          <p:cNvSpPr/>
          <p:nvPr/>
        </p:nvSpPr>
        <p:spPr>
          <a:xfrm>
            <a:off x="411480" y="932688"/>
            <a:ext cx="91440" cy="1225296"/>
          </a:xfrm>
          <a:prstGeom prst="rect">
            <a:avLst/>
          </a:prstGeom>
          <a:solidFill>
            <a:srgbClr val="EC6A2C"/>
          </a:solidFill>
          <a:ln/>
        </p:spPr>
      </p:sp>
      <p:sp>
        <p:nvSpPr>
          <p:cNvPr id="9" name="Text 6"/>
          <p:cNvSpPr/>
          <p:nvPr/>
        </p:nvSpPr>
        <p:spPr>
          <a:xfrm>
            <a:off x="667512" y="1060704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7A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首批规模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7512" y="1316736"/>
            <a:ext cx="3255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53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237万</a:t>
            </a:r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AUD/年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667512" y="1847088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50MW · 试点阶段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288536" y="932688"/>
            <a:ext cx="3712464" cy="1225296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3" name="Shape 10"/>
          <p:cNvSpPr/>
          <p:nvPr/>
        </p:nvSpPr>
        <p:spPr>
          <a:xfrm>
            <a:off x="4288536" y="932688"/>
            <a:ext cx="91440" cy="1225296"/>
          </a:xfrm>
          <a:prstGeom prst="rect">
            <a:avLst/>
          </a:prstGeom>
          <a:solidFill>
            <a:srgbClr val="C9C9C9"/>
          </a:solidFill>
          <a:ln/>
        </p:spPr>
      </p:sp>
      <p:sp>
        <p:nvSpPr>
          <p:cNvPr id="14" name="Text 11"/>
          <p:cNvSpPr/>
          <p:nvPr/>
        </p:nvSpPr>
        <p:spPr>
          <a:xfrm>
            <a:off x="4544568" y="1060704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7A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中期规模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44568" y="1316736"/>
            <a:ext cx="3255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~1,360万</a:t>
            </a:r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AUD/年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4544568" y="1847088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320MW · 2027–2028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165592" y="932688"/>
            <a:ext cx="3712464" cy="1225296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8" name="Shape 15"/>
          <p:cNvSpPr/>
          <p:nvPr/>
        </p:nvSpPr>
        <p:spPr>
          <a:xfrm>
            <a:off x="8165592" y="932688"/>
            <a:ext cx="91440" cy="1225296"/>
          </a:xfrm>
          <a:prstGeom prst="rect">
            <a:avLst/>
          </a:prstGeom>
          <a:solidFill>
            <a:srgbClr val="C9C9C9"/>
          </a:solidFill>
          <a:ln/>
        </p:spPr>
      </p:sp>
      <p:sp>
        <p:nvSpPr>
          <p:cNvPr id="19" name="Text 16"/>
          <p:cNvSpPr/>
          <p:nvPr/>
        </p:nvSpPr>
        <p:spPr>
          <a:xfrm>
            <a:off x="8421624" y="1060704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7A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远期规模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421624" y="1316736"/>
            <a:ext cx="3255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~2,780万+</a:t>
            </a:r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AUD/年</a:t>
            </a:r>
            <a:endParaRPr lang="en-US" sz="3000" dirty="0"/>
          </a:p>
        </p:txBody>
      </p:sp>
      <p:sp>
        <p:nvSpPr>
          <p:cNvPr id="21" name="Text 18"/>
          <p:cNvSpPr/>
          <p:nvPr/>
        </p:nvSpPr>
        <p:spPr>
          <a:xfrm>
            <a:off x="8421624" y="1847088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650MW · IRP独立持牌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11480" y="2468880"/>
            <a:ext cx="82296" cy="274320"/>
          </a:xfrm>
          <a:prstGeom prst="rect">
            <a:avLst/>
          </a:prstGeom>
          <a:solidFill>
            <a:srgbClr val="EC6A2C"/>
          </a:solidFill>
          <a:ln/>
        </p:spPr>
      </p:sp>
      <p:sp>
        <p:nvSpPr>
          <p:cNvPr id="23" name="Text 20"/>
          <p:cNvSpPr/>
          <p:nvPr/>
        </p:nvSpPr>
        <p:spPr>
          <a:xfrm>
            <a:off x="594360" y="243230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收入来源：收益分成 + 平台授权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502920" y="2926080"/>
            <a:ext cx="41605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60" b="1" dirty="0">
                <a:solidFill>
                  <a:srgbClr val="EC6A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 VPP市场收益分成 30%</a:t>
            </a:r>
            <a:endParaRPr lang="en-US" sz="116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60" dirty="0">
                <a:solidFill>
                  <a:srgbClr val="7A7A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 现货市场峰谷套利收益</a:t>
            </a:r>
            <a:endParaRPr lang="en-US" sz="116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60" dirty="0">
                <a:solidFill>
                  <a:srgbClr val="7A7A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 FCAS 频率控制辅助服务收益</a:t>
            </a:r>
            <a:endParaRPr lang="en-US" sz="116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60" dirty="0">
                <a:solidFill>
                  <a:srgbClr val="7A7A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 需求响应(DRM)市场收益</a:t>
            </a:r>
            <a:endParaRPr lang="en-US" sz="116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60" b="1" dirty="0">
                <a:solidFill>
                  <a:srgbClr val="EC6A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 BESS托管运营分成（兜底）</a:t>
            </a:r>
            <a:endParaRPr lang="en-US" sz="116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60" dirty="0">
                <a:solidFill>
                  <a:srgbClr val="7A7A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 电网级BESS现货套利（190 AUD/MWh）</a:t>
            </a:r>
            <a:endParaRPr lang="en-US" sz="116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60" dirty="0">
                <a:solidFill>
                  <a:srgbClr val="7A7A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 FCAS调频收益</a:t>
            </a:r>
            <a:endParaRPr lang="en-US" sz="116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60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 项目测算IRR 22% vs 资方要求IRR 15%</a:t>
            </a:r>
            <a:endParaRPr lang="en-US" sz="116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60" b="1" dirty="0">
                <a:solidFill>
                  <a:srgbClr val="EC6A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 平台授权 + 通道费</a:t>
            </a:r>
            <a:endParaRPr lang="en-US" sz="116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60" dirty="0">
                <a:solidFill>
                  <a:srgbClr val="7A7A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 其他客户年收益的 15%</a:t>
            </a:r>
            <a:endParaRPr lang="en-US" sz="116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60" b="1" dirty="0">
                <a:solidFill>
                  <a:srgbClr val="EC6A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4. 平台销售和租赁</a:t>
            </a:r>
            <a:endParaRPr lang="en-US" sz="116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60" b="1" dirty="0">
                <a:solidFill>
                  <a:srgbClr val="EC6A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5. 资本化收益</a:t>
            </a:r>
            <a:endParaRPr lang="en-US" sz="1160" dirty="0"/>
          </a:p>
        </p:txBody>
      </p:sp>
      <p:sp>
        <p:nvSpPr>
          <p:cNvPr id="25" name="Text 22"/>
          <p:cNvSpPr/>
          <p:nvPr/>
        </p:nvSpPr>
        <p:spPr>
          <a:xfrm>
            <a:off x="4800600" y="237744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JV 收入增长轨迹（万 AUD/年）</a:t>
            </a:r>
            <a:endParaRPr lang="en-US" sz="1150" dirty="0"/>
          </a:p>
        </p:txBody>
      </p:sp>
      <p:pic>
        <p:nvPicPr>
          <p:cNvPr id="26" name="Image 1" descr="/sessions/funny-upbeat-darwin/mnt/claude-PriceForecastNEM/vpp_business_case/charts/p2_growt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2697480"/>
            <a:ext cx="3703320" cy="324612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8458200" y="237744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客户留存率趋势（%）</a:t>
            </a:r>
            <a:endParaRPr lang="en-US" sz="1150" dirty="0"/>
          </a:p>
        </p:txBody>
      </p:sp>
      <p:pic>
        <p:nvPicPr>
          <p:cNvPr id="28" name="Image 2" descr="/sessions/funny-upbeat-darwin/mnt/claude-PriceForecastNEM/vpp_business_case/charts/p2_reten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697480"/>
            <a:ext cx="3703320" cy="324612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411480" y="605332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7A7A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注：单位经济性源自AEMO NEM真实数据回测（户用216 / 工商业153 AUD·kW⁻¹·年⁻¹，×30%分成；BESS运营按40,000 AUD/MW·年）。规模口径同第1页。</a:t>
            </a:r>
            <a:endParaRPr lang="en-US" sz="780" dirty="0"/>
          </a:p>
        </p:txBody>
      </p:sp>
      <p:pic>
        <p:nvPicPr>
          <p:cNvPr id="30" name="Image 3" descr="/sessions/funny-upbeat-darwin/mnt/claude-PriceForecastNEM/vpp_business_case/charts/p2_flor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400800"/>
            <a:ext cx="12191695" cy="3840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2026-06-16T14:03:46Z</dcterms:created>
  <dcterms:modified xsi:type="dcterms:W3CDTF">2026-06-16T14:03:46Z</dcterms:modified>
</cp:coreProperties>
</file>