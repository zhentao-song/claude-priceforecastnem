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场景一  </a:t>
            </a:r>
            <a:pPr indent="0" marL="0">
              <a:buNone/>
            </a:pPr>
            <a:r>
              <a:rPr lang="en-US" sz="300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工商业 C&amp;I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0" y="384048"/>
            <a:ext cx="3547872" cy="457200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84048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结论：值得大力投入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3657600" cy="8412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24128"/>
            <a:ext cx="82296" cy="841248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1155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1.85×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VPP收益提升（单站·年）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024128"/>
            <a:ext cx="3657600" cy="8412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024128"/>
            <a:ext cx="82296" cy="841248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11155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$15,290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453128" y="1554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方案B 单站VPP收益/年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1024128"/>
            <a:ext cx="3685032" cy="8412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092440" y="1024128"/>
            <a:ext cx="82296" cy="841248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08" y="1115568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$459k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293608" y="15544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运营商收益/100站·年 (30%)</a:t>
            </a:r>
            <a:endParaRPr lang="en-US" sz="1050" dirty="0"/>
          </a:p>
        </p:txBody>
      </p:sp>
      <p:pic>
        <p:nvPicPr>
          <p:cNvPr id="17" name="Image 0" descr="/sessions/funny-upbeat-darwin/mnt/claude-PriceForecastNEM/vpp_business_case/charts/compare_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0"/>
            <a:ext cx="5806440" cy="437083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355080" y="2011680"/>
            <a:ext cx="539496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37960" y="2139696"/>
            <a:ext cx="82296" cy="256032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20" name="Text 17"/>
          <p:cNvSpPr/>
          <p:nvPr/>
        </p:nvSpPr>
        <p:spPr>
          <a:xfrm>
            <a:off x="6720840" y="21031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基础数据（典型工商业站点）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56248" y="246888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年用电 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300 MWh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光伏 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 kW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储能 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215 kWh / 100 kW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44000" y="246888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套餐 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批发市场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套利时段 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非工作时段*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往返效率 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56248" y="31089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9A9A9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* 工作日 08–17 点电池优先服务负荷，套利仅在非工作时段，已错失中午负价仍近翻倍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6355080" y="3456432"/>
            <a:ext cx="539496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537960" y="3566160"/>
            <a:ext cx="82296" cy="256032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26" name="Text 23"/>
          <p:cNvSpPr/>
          <p:nvPr/>
        </p:nvSpPr>
        <p:spPr>
          <a:xfrm>
            <a:off x="6720840" y="35295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收益拆解（单站·年，A$）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877056"/>
          <a:ext cx="5029200" cy="9144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方案A 零售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方案B VPP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4400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套利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$8,283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$11,480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FCAS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$3,810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VPP收益合计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$8,283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E44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$15,290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运营商30%分成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$2,485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E44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$4,587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6355080" y="5285232"/>
            <a:ext cx="5394960" cy="1078992"/>
          </a:xfrm>
          <a:prstGeom prst="rect">
            <a:avLst/>
          </a:prstGeom>
          <a:solidFill>
            <a:srgbClr val="FFF0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537960" y="5394960"/>
            <a:ext cx="82296" cy="256032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30" name="Text 26"/>
          <p:cNvSpPr/>
          <p:nvPr/>
        </p:nvSpPr>
        <p:spPr>
          <a:xfrm>
            <a:off x="6720840" y="53583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为什么值得大干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556248" y="568756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近翻倍且抗约束：</a:t>
            </a:r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即便白天服务负荷、错失中午负价，方案B仍达1.85×。  </a:t>
            </a:r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单站经济性强：</a:t>
            </a:r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运营商$4,587/站，2循环上行$17,791(分成$5,337)。  </a:t>
            </a:r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规模杠杆：</a:t>
            </a:r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100站即贡献运营商$459k/年(增量$210k)。</a:t>
            </a:r>
            <a:endParaRPr lang="en-US" sz="1020" dirty="0"/>
          </a:p>
        </p:txBody>
      </p:sp>
      <p:sp>
        <p:nvSpPr>
          <p:cNvPr id="32" name="Shape 28"/>
          <p:cNvSpPr/>
          <p:nvPr/>
        </p:nvSpPr>
        <p:spPr>
          <a:xfrm>
            <a:off x="411480" y="6400800"/>
            <a:ext cx="1136873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9A9A9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数据来源：AEMO DISPATCHPRICE 真实5分钟数据 (NSW1, 2025 Q1, 25,632区间, 含RRP+8个FCAS服务价)  ·  仅含VPP收益(套利+FCAS)  ·  运营商分成30%  ·  保守口径(季节0.80×预见性0.85×单循环)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场景二  </a:t>
            </a:r>
            <a:pPr indent="0" marL="0">
              <a:buNone/>
            </a:pPr>
            <a:r>
              <a:rPr lang="en-US" sz="3000" b="1" dirty="0">
                <a:solidFill>
                  <a:srgbClr val="9A9A9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户用 Residential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0" y="384048"/>
            <a:ext cx="4005072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384048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结论：铺量为主，非收益主引擎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3657600" cy="8412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24128"/>
            <a:ext cx="82296" cy="841248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1155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1.16×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VPP提升（基准，2循环1.48×）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024128"/>
            <a:ext cx="3657600" cy="8412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024128"/>
            <a:ext cx="82296" cy="841248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11155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$1,083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453128" y="1554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方案B 单户VPP收益/年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1024128"/>
            <a:ext cx="3685032" cy="8412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092440" y="1024128"/>
            <a:ext cx="82296" cy="841248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08" y="1115568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$325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293608" y="15544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运营商收益/户·年 (30%)</a:t>
            </a:r>
            <a:endParaRPr lang="en-US" sz="1050" dirty="0"/>
          </a:p>
        </p:txBody>
      </p:sp>
      <p:pic>
        <p:nvPicPr>
          <p:cNvPr id="17" name="Image 0" descr="/sessions/funny-upbeat-darwin/mnt/claude-PriceForecastNEM/vpp_business_case/charts/compare_re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0"/>
            <a:ext cx="5806440" cy="437083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355080" y="2011680"/>
            <a:ext cx="5394960" cy="13716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37960" y="2139696"/>
            <a:ext cx="82296" cy="256032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20" name="Text 17"/>
          <p:cNvSpPr/>
          <p:nvPr/>
        </p:nvSpPr>
        <p:spPr>
          <a:xfrm>
            <a:off x="6720840" y="21031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基础数据（典型户用）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56248" y="246888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年用电 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5,500 kWh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光伏 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6.6 kW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储能 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13.5 kWh / 5 kW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44000" y="246888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套餐 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批发市场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套利时段 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全天可用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往返效率 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56248" y="31089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9A9A9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户用无工作/非工作之分，电池全天可套利，但5kW功率+单循环限制了价差捕获能力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6355080" y="3456432"/>
            <a:ext cx="539496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537960" y="3566160"/>
            <a:ext cx="82296" cy="256032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26" name="Text 23"/>
          <p:cNvSpPr/>
          <p:nvPr/>
        </p:nvSpPr>
        <p:spPr>
          <a:xfrm>
            <a:off x="6720840" y="35295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收益拆解（单户·年，A$）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877056"/>
          <a:ext cx="5029200" cy="9144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方案A 零售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方案B VPP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9A9A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套利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$931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$904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FCAS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—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$179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VPP收益合计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$931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$1,083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运营商30%分成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$279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$325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6355080" y="5285232"/>
            <a:ext cx="5394960" cy="1078992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537960" y="5394960"/>
            <a:ext cx="82296" cy="256032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30" name="Text 26"/>
          <p:cNvSpPr/>
          <p:nvPr/>
        </p:nvSpPr>
        <p:spPr>
          <a:xfrm>
            <a:off x="6720840" y="53583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为什么不宜重押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556248" y="568756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裸套利无优势：</a:t>
            </a:r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5kW+单循环下批发套利($904)≈优质零售价差($931)。  </a:t>
            </a:r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增量薄：</a:t>
            </a:r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提升主要靠FCAS($179)与多循环，单户分成仅$325。  </a:t>
            </a:r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</a:t>
            </a:r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</a:t>
            </a:r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14户</a:t>
            </a:r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才抵 </a:t>
            </a:r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1个工商业站</a:t>
            </a:r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的运营商收益 → 价值在户数规模与聚合容量。</a:t>
            </a:r>
            <a:endParaRPr lang="en-US" sz="1020" dirty="0"/>
          </a:p>
        </p:txBody>
      </p:sp>
      <p:sp>
        <p:nvSpPr>
          <p:cNvPr id="32" name="Shape 28"/>
          <p:cNvSpPr/>
          <p:nvPr/>
        </p:nvSpPr>
        <p:spPr>
          <a:xfrm>
            <a:off x="411480" y="6400800"/>
            <a:ext cx="1136873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9A9A9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数据来源：AEMO DISPATCHPRICE 真实5分钟数据 (NSW1, 2025 Q1, 25,632区间, 含RRP+8个FCAS服务价)  ·  仅含VPP收益(套利+FCAS)  ·  运营商分成30%  ·  保守口径(季节0.80×预见性0.85×单循环)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方法论、数据来源与套利价值的来源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11480" y="1097280"/>
            <a:ext cx="5532120" cy="2084832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25296"/>
            <a:ext cx="82296" cy="256032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测算逻辑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2648" y="1554480"/>
            <a:ext cx="5129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电池调度模型：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给定真实价格序列+电池约束(容量/功率/效率/循环)，逐日求最优低充高放套利，叠加FCAS容量收益。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9A9A9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方案A 基线：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零售TOU套餐、无VPP，只赚零售峰谷价差。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方案B VPP：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批发套餐，赚现货套利+(工商业)非工作时段套利+FCAS八市场。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3291840"/>
            <a:ext cx="5532120" cy="17007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3419856"/>
            <a:ext cx="82296" cy="256032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832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数据来源（真实，可追溯）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3730752"/>
            <a:ext cx="5129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40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AEMO DISPATCHPRICE 表，NSW1，2025-01-01 → 03-31
</a:t>
            </a:r>
            <a:endParaRPr lang="en-US" sz="104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40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25,632 个5分钟区间，含 RRP + 8个FCAS服务价格
</a:t>
            </a:r>
            <a:endParaRPr lang="en-US" sz="104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40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区间均价 $88/MWh，与AEMO季报水平一致
</a:t>
            </a:r>
            <a:endParaRPr lang="en-US" sz="104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40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零售TOU、PV/储能配置取行业公开基准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411480" y="5084064"/>
            <a:ext cx="5532120" cy="1298448"/>
          </a:xfrm>
          <a:prstGeom prst="rect">
            <a:avLst/>
          </a:prstGeom>
          <a:solidFill>
            <a:srgbClr val="FFF0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5193792"/>
            <a:ext cx="82296" cy="256032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5721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保守口径（避免高估）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" y="5522976"/>
            <a:ext cx="51297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4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季节折减 0.80</a:t>
            </a:r>
            <a:pPr indent="0" marL="0">
              <a:lnSpc>
                <a:spcPct val="110000"/>
              </a:lnSpc>
              <a:buNone/>
            </a:pPr>
            <a:r>
              <a:rPr lang="en-US" sz="104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(夏季Q1→全年) × </a:t>
            </a:r>
            <a:pPr indent="0" marL="0">
              <a:lnSpc>
                <a:spcPct val="110000"/>
              </a:lnSpc>
              <a:buNone/>
            </a:pPr>
            <a:r>
              <a:rPr lang="en-US" sz="104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预见性折减 0.85</a:t>
            </a:r>
            <a:pPr indent="0" marL="0">
              <a:lnSpc>
                <a:spcPct val="110000"/>
              </a:lnSpc>
              <a:buNone/>
            </a:pPr>
            <a:r>
              <a:rPr lang="en-US" sz="104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(无法完美捕获尖峰) × </a:t>
            </a:r>
            <a:pPr indent="0" marL="0">
              <a:lnSpc>
                <a:spcPct val="110000"/>
              </a:lnSpc>
              <a:buNone/>
            </a:pPr>
            <a:r>
              <a:rPr lang="en-US" sz="104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基准单循环/天</a:t>
            </a:r>
            <a:pPr indent="0" marL="0">
              <a:lnSpc>
                <a:spcPct val="110000"/>
              </a:lnSpc>
              <a:buNone/>
            </a:pPr>
            <a:r>
              <a:rPr lang="en-US" sz="104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。FCAS价已反映2025大幅压缩后水平。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172200" y="1207008"/>
            <a:ext cx="82296" cy="256032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1704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套利价值的来源：NSW现货日内曲线</a:t>
            </a:r>
            <a:endParaRPr lang="en-US" sz="1400" dirty="0"/>
          </a:p>
        </p:txBody>
      </p:sp>
      <p:pic>
        <p:nvPicPr>
          <p:cNvPr id="17" name="Image 0" descr="/sessions/funny-upbeat-darwin/mnt/claude-PriceForecastNEM/vpp_business_case/charts/hourly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517904"/>
            <a:ext cx="5623560" cy="24231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72200" y="395020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中午光伏将现货压至~$20/MWh甚至负价，傍晚17–18点冲到~$212/MWh——巨大的日内价差是VPP批发套利(方案B)的核心来源。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6172200" y="4617720"/>
            <a:ext cx="269748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6172200" y="4617720"/>
            <a:ext cx="82296" cy="822960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4709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$623/MWh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6355080" y="5120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日内套利价差均值(峰谷)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052560" y="4617720"/>
            <a:ext cx="269748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1"/>
          <p:cNvSpPr/>
          <p:nvPr/>
        </p:nvSpPr>
        <p:spPr>
          <a:xfrm>
            <a:off x="9052560" y="4617720"/>
            <a:ext cx="82296" cy="822960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25" name="Text 22"/>
          <p:cNvSpPr/>
          <p:nvPr/>
        </p:nvSpPr>
        <p:spPr>
          <a:xfrm>
            <a:off x="9235440" y="4709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12.4%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9235440" y="5120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时段现货为负价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72200" y="5605272"/>
            <a:ext cx="269748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Shape 25"/>
          <p:cNvSpPr/>
          <p:nvPr/>
        </p:nvSpPr>
        <p:spPr>
          <a:xfrm>
            <a:off x="6172200" y="5605272"/>
            <a:ext cx="82296" cy="822960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29" name="Text 26"/>
          <p:cNvSpPr/>
          <p:nvPr/>
        </p:nvSpPr>
        <p:spPr>
          <a:xfrm>
            <a:off x="6355080" y="56967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市场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6355080" y="6108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可叠加的FCAS服务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052560" y="5605272"/>
            <a:ext cx="269748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29"/>
          <p:cNvSpPr/>
          <p:nvPr/>
        </p:nvSpPr>
        <p:spPr>
          <a:xfrm>
            <a:off x="9052560" y="5605272"/>
            <a:ext cx="82296" cy="822960"/>
          </a:xfrm>
          <a:prstGeom prst="rect">
            <a:avLst/>
          </a:prstGeom>
          <a:solidFill>
            <a:srgbClr val="FE4400"/>
          </a:solidFill>
          <a:ln/>
        </p:spPr>
      </p:sp>
      <p:sp>
        <p:nvSpPr>
          <p:cNvPr id="33" name="Text 30"/>
          <p:cNvSpPr/>
          <p:nvPr/>
        </p:nvSpPr>
        <p:spPr>
          <a:xfrm>
            <a:off x="9235440" y="56967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E44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$7.6/MW·h</a:t>
            </a:r>
            <a:endParaRPr lang="en-US" sz="1900" dirty="0"/>
          </a:p>
        </p:txBody>
      </p:sp>
      <p:sp>
        <p:nvSpPr>
          <p:cNvPr id="34" name="Text 31"/>
          <p:cNvSpPr/>
          <p:nvPr/>
        </p:nvSpPr>
        <p:spPr>
          <a:xfrm>
            <a:off x="9235440" y="6108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调频Raise均价(已压缩)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6400800"/>
            <a:ext cx="1136873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1480" y="6446520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9A9A9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数据来源：AEMO DISPATCHPRICE 真实5分钟数据 (NSW1, 2025 Q1, 25,632区间, 含RRP+8个FCAS服务价)  ·  仅含VPP收益(套利+FCAS)  ·  运营商分成30%  ·  保守口径(季节0.80×预见性0.85×单循环)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2026-06-16T13:30:17Z</dcterms:created>
  <dcterms:modified xsi:type="dcterms:W3CDTF">2026-06-16T13:30:17Z</dcterms:modified>
</cp:coreProperties>
</file>